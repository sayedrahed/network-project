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E0E83-05F0-4B75-8BEB-09ED552E676D}" v="2" dt="2026-10-23T06:01:33.8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s Pnes" userId="0b652c9259ee8497" providerId="LiveId" clId="{1048C962-E3FC-466A-B97C-82D14B1B2F67}"/>
    <pc:docChg chg="modSld">
      <pc:chgData name="Pens Pnes" userId="0b652c9259ee8497" providerId="LiveId" clId="{1048C962-E3FC-466A-B97C-82D14B1B2F67}" dt="2026-10-23T06:01:42.032" v="11" actId="20577"/>
      <pc:docMkLst>
        <pc:docMk/>
      </pc:docMkLst>
      <pc:sldChg chg="modSp mod">
        <pc:chgData name="Pens Pnes" userId="0b652c9259ee8497" providerId="LiveId" clId="{1048C962-E3FC-466A-B97C-82D14B1B2F67}" dt="2026-10-23T06:00:53.701" v="1" actId="1076"/>
        <pc:sldMkLst>
          <pc:docMk/>
          <pc:sldMk cId="0" sldId="258"/>
        </pc:sldMkLst>
        <pc:picChg chg="mod">
          <ac:chgData name="Pens Pnes" userId="0b652c9259ee8497" providerId="LiveId" clId="{1048C962-E3FC-466A-B97C-82D14B1B2F67}" dt="2026-10-23T06:00:53.701" v="1" actId="1076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Pens Pnes" userId="0b652c9259ee8497" providerId="LiveId" clId="{1048C962-E3FC-466A-B97C-82D14B1B2F67}" dt="2026-10-23T06:01:42.032" v="11" actId="20577"/>
        <pc:sldMkLst>
          <pc:docMk/>
          <pc:sldMk cId="0" sldId="259"/>
        </pc:sldMkLst>
        <pc:graphicFrameChg chg="mod modGraphic">
          <ac:chgData name="Pens Pnes" userId="0b652c9259ee8497" providerId="LiveId" clId="{1048C962-E3FC-466A-B97C-82D14B1B2F67}" dt="2026-10-23T06:01:42.032" v="11" actId="20577"/>
          <ac:graphicFrameMkLst>
            <pc:docMk/>
            <pc:sldMk cId="0" sldId="259"/>
            <ac:graphicFrameMk id="7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09728" cy="6858000"/>
          </a:xfrm>
          <a:prstGeom prst="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07040" cy="13716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STATIC ROUTING &amp; PING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9875520" cy="8229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CDE1F0"/>
                </a:solidFill>
                <a:latin typeface="Aptos"/>
              </a:defRPr>
            </a:pPr>
            <a:r>
              <a:t>Computer and Network Communications</a:t>
            </a:r>
          </a:p>
          <a:p>
            <a:pPr>
              <a:spcAft>
                <a:spcPts val="700"/>
              </a:spcAft>
              <a:defRPr sz="2200" b="0">
                <a:solidFill>
                  <a:srgbClr val="CDE1F0"/>
                </a:solidFill>
                <a:latin typeface="Aptos"/>
              </a:defRPr>
            </a:pPr>
            <a:r>
              <a:t>Cisco Packet Tracer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1508760" cy="685800"/>
          </a:xfrm>
          <a:prstGeom prst="round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4882896"/>
            <a:ext cx="731520" cy="36576"/>
          </a:xfrm>
          <a:prstGeom prst="rect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63240" y="4572000"/>
            <a:ext cx="1508760" cy="685800"/>
          </a:xfrm>
          <a:prstGeom prst="roundRect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882896"/>
            <a:ext cx="731520" cy="36576"/>
          </a:xfrm>
          <a:prstGeom prst="rect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03520" y="4572000"/>
            <a:ext cx="150876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4882896"/>
            <a:ext cx="731520" cy="36576"/>
          </a:xfrm>
          <a:prstGeom prst="rect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43800" y="4572000"/>
            <a:ext cx="1508760" cy="6858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ROUTER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4882896"/>
            <a:ext cx="731520" cy="36576"/>
          </a:xfrm>
          <a:prstGeom prst="rect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84080" y="4572000"/>
            <a:ext cx="1508760" cy="685800"/>
          </a:xfrm>
          <a:prstGeom prst="round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C8D7E6"/>
                </a:solidFill>
                <a:latin typeface="Aptos"/>
              </a:defRPr>
            </a:pPr>
            <a:r>
              <a:t>Prepared from the supplied Packet Tracer topology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Objectives and Assignment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Build and test the two network topologies in Cisco Packet Tracer.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Configure IP addresses and default gateways according to the labels in the supplied diagram.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Use ICMP Ping to test communication between selected host IP addresses.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Explain packet forwarding, routing-table lookup, and the return path.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Analyze successful and failed ping results using Packet Tracer Simulation Mode.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417320"/>
            <a:ext cx="3886200" cy="3566160"/>
          </a:xfrm>
          <a:prstGeom prst="roundRect">
            <a:avLst/>
          </a:prstGeom>
          <a:solidFill>
            <a:srgbClr val="F0F5FA"/>
          </a:solidFill>
          <a:ln>
            <a:solidFill>
              <a:srgbClr val="29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18120" y="1691640"/>
            <a:ext cx="338328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62A0"/>
                </a:solidFill>
                <a:latin typeface="Aptos"/>
              </a:defRPr>
            </a:pPr>
            <a:r>
              <a:t>Important topology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240280"/>
            <a:ext cx="3291840" cy="22860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The assignment text says each topology should contain 5 computers. In the supplied screenshot, each illustrated topology visibly shows 4 PCs. Add a fifth PC to each topology if the instructor requires exactly 5; use an unused IP in the correct subnet.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Supplied Packet Tracer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C7A"/>
                </a:solidFill>
                <a:latin typeface="Aptos"/>
              </a:defRPr>
            </a:pPr>
            <a:r>
              <a:t>The screenshot below is included as the reference design provided for this presentation.</a:t>
            </a:r>
          </a:p>
        </p:txBody>
      </p:sp>
      <p:pic>
        <p:nvPicPr>
          <p:cNvPr id="5" name="Picture 4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9602"/>
            <a:ext cx="11155680" cy="3306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Topology 1 — One Router, Two 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962A0"/>
                </a:solidFill>
                <a:latin typeface="Aptos"/>
              </a:defRPr>
            </a:pPr>
            <a:r>
              <a:t>What the diagram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37760" cy="33832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One 2901 router connects two separate IP networks through two interfaces.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Left LAN: 192.168.1.0/24; router gateway shown as 192.168.1.1.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Right LAN: 192.168.2.0/24; router gateway shown as 192.168.2.1.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Switches provide Layer 2 connectivity between the router and PCs.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143000"/>
            <a:ext cx="502920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962A0"/>
                </a:solidFill>
                <a:latin typeface="Aptos"/>
              </a:defRPr>
            </a:pPr>
            <a:r>
              <a:t>IP addressing from the screenshot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597519"/>
              </p:ext>
            </p:extLst>
          </p:nvPr>
        </p:nvGraphicFramePr>
        <p:xfrm>
          <a:off x="6126480" y="173736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IPv4 address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Default gateway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Router LAN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192.168.1.1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PC0(1)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dirty="0"/>
                        <a:t>192.168.1.1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PC1(1)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dirty="0"/>
                        <a:t>192.168.1.1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Router LAN 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lang="en-US" dirty="0"/>
                        <a:t>192.168.2.1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PC2(1)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PC3(1)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192.168.2.200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rPr dirty="0"/>
                        <a:t>192.168.2.1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349240"/>
            <a:ext cx="10515600" cy="6400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E8B57"/>
                </a:solidFill>
                <a:latin typeface="Aptos"/>
              </a:defRPr>
            </a:pPr>
            <a:r>
              <a:t>Routing note: both LANs are directly connected to the same router. No static route is needed between these two directly connected networks when both interfaces are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Topology 2 — Two Routers and Three IP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93776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R0 connects the 192.168.1.0/24 LAN to the inter-router link.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R1 connects the inter-router link to the 192.168.3.0/24 LAN.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The inter-router network uses 192.168.2.1 and 192.168.2.2 as shown.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Each PC must use the router interface on its own LAN as its default gateway.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06440" y="1234440"/>
          <a:ext cx="56692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Device / interface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IPv4 address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Subnet mask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R0 — left 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R0 — link to R1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255.255.255.0*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R1 — link to R0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R1 — right LAN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192.168.3.1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192.168.1.200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192.168.3.100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PC3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192.168.3.200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0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255.255.255.0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892040"/>
            <a:ext cx="10789920" cy="914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DC822D"/>
                </a:solidFill>
                <a:latin typeface="Aptos"/>
              </a:defRPr>
            </a:pPr>
            <a:r>
              <a:t>*The screenshot labels only the IP addresses, not the masks. This deck assumes /24 (255.255.255.0) for the 192.168.2.x inter-router link to match the visible addressing. A /30 point-to-point subnet is also common, but would require changing the link addresses/masks consistently.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Static Routes for Topology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962A0"/>
                </a:solidFill>
                <a:latin typeface="Aptos"/>
              </a:defRPr>
            </a:pPr>
            <a:r>
              <a:t>Why static routes are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15544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R0 knows its directly connected 192.168.1.0/24 and 192.168.2.0/24 networks, but it does not automatically know the remote 192.168.3.0/24 LAN.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R1 similarly needs a route back to 192.168.1.0/24. A ping needs a forward path and a return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5120640" cy="365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878C"/>
                </a:solidFill>
                <a:latin typeface="Aptos"/>
              </a:defRPr>
            </a:pPr>
            <a:r>
              <a:t>On R0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40480"/>
            <a:ext cx="5120640" cy="132588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3931920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enable</a:t>
            </a:r>
          </a:p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configure terminal</a:t>
            </a:r>
          </a:p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ip route 192.168.3.0 255.255.255.0 192.168.2.2</a:t>
            </a:r>
          </a:p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29000"/>
            <a:ext cx="5120640" cy="365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878C"/>
                </a:solidFill>
                <a:latin typeface="Aptos"/>
              </a:defRPr>
            </a:pPr>
            <a:r>
              <a:t>On 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132588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3931920"/>
            <a:ext cx="479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enable</a:t>
            </a:r>
          </a:p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configure terminal</a:t>
            </a:r>
          </a:p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ip route 192.168.1.0 255.255.255.0 192.168.2.1</a:t>
            </a:r>
          </a:p>
          <a:p>
            <a:pPr>
              <a:spcAft>
                <a:spcPts val="400"/>
              </a:spcAft>
              <a:defRPr sz="1300">
                <a:solidFill>
                  <a:srgbClr val="142A4A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E8B57"/>
                </a:solidFill>
                <a:latin typeface="Aptos"/>
              </a:defRPr>
            </a:pPr>
            <a:r>
              <a:t>Verify routes with: show ip route     |     Expected static-route code: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Configuration Workflow in Cisco Packet Tracer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143000"/>
            <a:ext cx="438912" cy="438912"/>
          </a:xfrm>
          <a:prstGeom prst="ellipse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24712"/>
            <a:ext cx="2468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Place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124712"/>
            <a:ext cx="7498079" cy="56692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Add 2901 routers, 2960 switches, and PCs; connect using appropriate copper Ethernet cables.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47672"/>
            <a:ext cx="438912" cy="438912"/>
          </a:xfrm>
          <a:prstGeom prst="ellipse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9384"/>
            <a:ext cx="2468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Configure router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29384"/>
            <a:ext cx="7498079" cy="56692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Use CLI or Config tab to assign the labelled IP addresses, then issue no shutdown on each used interface.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52344"/>
            <a:ext cx="438912" cy="438912"/>
          </a:xfrm>
          <a:prstGeom prst="ellipse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34056"/>
            <a:ext cx="2468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Configure PCs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34056"/>
            <a:ext cx="7498079" cy="56692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Desktop → IP Configuration: enter each PC IP, subnet mask, and the local router interface as Default Gateway.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57016"/>
            <a:ext cx="438912" cy="438912"/>
          </a:xfrm>
          <a:prstGeom prst="ellipse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38728"/>
            <a:ext cx="2468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Add static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538728"/>
            <a:ext cx="7498079" cy="56692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For the two-router topology, add the routes shown on the previous slide on both routers.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361688"/>
            <a:ext cx="438912" cy="438912"/>
          </a:xfrm>
          <a:prstGeom prst="ellipse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343400"/>
            <a:ext cx="2468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Check interfaces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43400"/>
            <a:ext cx="7498079" cy="56692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Use show ip interface brief; used interfaces should be up/up.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166360"/>
            <a:ext cx="438912" cy="438912"/>
          </a:xfrm>
          <a:prstGeom prst="ellipse">
            <a:avLst/>
          </a:prstGeom>
          <a:solidFill>
            <a:srgbClr val="0087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48072"/>
            <a:ext cx="2468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Test 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148072"/>
            <a:ext cx="7498079" cy="56692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Ping the local gateway first, then a remote PC. Use Simulation Mode to inspect the ICMP packets.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What Happens During a 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62A0"/>
                </a:solidFill>
                <a:latin typeface="Aptos"/>
              </a:defRPr>
            </a:pPr>
            <a:r>
              <a:t>Example: PC0 (192.168.1.100) pings PC2 (192.168.3.100) in Topology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878C"/>
                </a:solidFill>
                <a:latin typeface="Aptos"/>
              </a:defRPr>
            </a:pPr>
            <a:r>
              <a:t>1. PC creates ICMP Echo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4846320" cy="6126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6303C"/>
                </a:solidFill>
                <a:latin typeface="Aptos"/>
              </a:defRPr>
            </a:pPr>
            <a:r>
              <a:t>The source checks whether the destination is in its local subnet. 192.168.3.100 is remote.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257800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1737360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878C"/>
                </a:solidFill>
                <a:latin typeface="Aptos"/>
              </a:defRPr>
            </a:pPr>
            <a:r>
              <a:t>2. PC sends to its default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084832"/>
            <a:ext cx="4846320" cy="6126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6303C"/>
                </a:solidFill>
                <a:latin typeface="Aptos"/>
              </a:defRPr>
            </a:pPr>
            <a:r>
              <a:t>PC0 resolves the gateway's MAC address using ARP, if it is not already cached.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57800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246120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878C"/>
                </a:solidFill>
                <a:latin typeface="Aptos"/>
              </a:defRPr>
            </a:pPr>
            <a:r>
              <a:t>3. R0 forwards the 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93592"/>
            <a:ext cx="4846320" cy="6126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6303C"/>
                </a:solidFill>
                <a:latin typeface="Aptos"/>
              </a:defRPr>
            </a:pPr>
            <a:r>
              <a:t>R0 checks its routing table and matches the static route to 192.168.3.0/24 via 192.168.2.2.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5257800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3246120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878C"/>
                </a:solidFill>
                <a:latin typeface="Aptos"/>
              </a:defRPr>
            </a:pPr>
            <a:r>
              <a:t>4. R1 delivers to the destination 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593592"/>
            <a:ext cx="4846320" cy="6126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6303C"/>
                </a:solidFill>
                <a:latin typeface="Aptos"/>
              </a:defRPr>
            </a:pPr>
            <a:r>
              <a:t>R1 sees 192.168.3.0/24 is directly connected, resolves the destination MAC if needed, and forwards the frame.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257800" cy="114300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4754879"/>
            <a:ext cx="4846320" cy="29260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878C"/>
                </a:solidFill>
                <a:latin typeface="Aptos"/>
              </a:defRPr>
            </a:pPr>
            <a:r>
              <a:t>5. PC2 sends an Echo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02352"/>
            <a:ext cx="4846320" cy="61264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6303C"/>
                </a:solidFill>
                <a:latin typeface="Aptos"/>
              </a:defRPr>
            </a:pPr>
            <a:r>
              <a:t>The reply travels back through R1 and R0; the return static route on R1 is essential.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63640"/>
            <a:ext cx="10515600" cy="201168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C7A"/>
                </a:solidFill>
                <a:latin typeface="Aptos"/>
              </a:defRPr>
            </a:pPr>
            <a:r>
              <a:t>ICMP Echo Request = type 8; ICMP Echo Reply = type 0 (IPv4).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Observe the Packet in Simulation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Switch from Realtime to Simulation in Packet Tracer.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Use Add Simple PDU (envelope icon) or run ping from a PC command prompt.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Use Capture/Forward to move the event one step at a time.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Open each event to inspect OSI layers, source/destination IPs, and ICMP type.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Expect ARP events before the first ICMP exchange when MAC addresses are unknown.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 green check or successful ping indicates replies were received; red events/timeouts require troubleshooting.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828800"/>
            <a:ext cx="960120" cy="594360"/>
          </a:xfrm>
          <a:prstGeom prst="round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PC0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0" y="2103120"/>
            <a:ext cx="274320" cy="36576"/>
          </a:xfrm>
          <a:prstGeom prst="rect">
            <a:avLst/>
          </a:prstGeom>
          <a:solidFill>
            <a:srgbClr val="5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0" y="1828800"/>
            <a:ext cx="960120" cy="5943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R0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2103120"/>
            <a:ext cx="274320" cy="36576"/>
          </a:xfrm>
          <a:prstGeom prst="rect">
            <a:avLst/>
          </a:prstGeom>
          <a:solidFill>
            <a:srgbClr val="5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960120" cy="5943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2103120"/>
            <a:ext cx="274320" cy="36576"/>
          </a:xfrm>
          <a:prstGeom prst="rect">
            <a:avLst/>
          </a:prstGeom>
          <a:solidFill>
            <a:srgbClr val="5F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0" y="1828800"/>
            <a:ext cx="960120" cy="594360"/>
          </a:xfrm>
          <a:prstGeom prst="roundRect">
            <a:avLst/>
          </a:prstGeom>
          <a:solidFill>
            <a:srgbClr val="29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75488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962A0"/>
                </a:solidFill>
                <a:latin typeface="Aptos"/>
              </a:defRPr>
            </a:pPr>
            <a:r>
              <a:t>Request: PC0 → PC2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4754880" cy="5029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E8B57"/>
                </a:solidFill>
                <a:latin typeface="Aptos"/>
              </a:defRPr>
            </a:pPr>
            <a:r>
              <a:t>Reply: PC2 → PC0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4663440" cy="10058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Remember: the Ethernet source/destination MAC addresses change at each routed hop. The source/destination IP addresses normally remain the same end-to-end (unless NAT is used).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Suggested Ping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4114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DC822D"/>
                </a:solidFill>
                <a:latin typeface="Aptos"/>
              </a:defRPr>
            </a:pPr>
            <a:r>
              <a:t>Record actual results from your own Packet Tracer file; do not claim success until tested.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8991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Topology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Same LAN / subnet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192.168.2.100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Router has both LANs directly connected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192.168.2.200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Connected routes in both directions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192.168.3.100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Success after routes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Static route forward and return paths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192.168.3.200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Success after routes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Same routed networks as above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192.168.1.100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192.168.1.200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Same LAN / subnet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94960"/>
            <a:ext cx="10332720" cy="5486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6303C"/>
                </a:solidFill>
                <a:latin typeface="Aptos"/>
              </a:defRPr>
            </a:pPr>
            <a:r>
              <a:t>First ping can occasionally time out while ARP tables are populated. Repeat the ping and inspect the event list before diagnosing a 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Troubleshooting Checklist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Symptom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Likely cause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to check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Cannot ping own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Wrong PC IP/mask, cable, or interface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PC IP Configuration; link lights; show ip interface brief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Local LAN works, remote LAN fails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Missing or incorrect static route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show ip route; verify destination network, mask, next hop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Request arrives but no reply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Return route or wrong gateway 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Check route on the remote router and destination PC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Interface is administratively down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no shutdown not applied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Enter interface configuration and issue no shutdown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Wrong subnet mask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Hosts disagree about local vs remote network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Use consistent masks for all devices in each LAN/link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Duplicate IP address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Two devices share an address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26303C"/>
                          </a:solidFill>
                          <a:latin typeface="Aptos"/>
                        </a:defRPr>
                      </a:pPr>
                      <a:r>
                        <a:t>Ensure every interface and PC has a unique IP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Analysis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Topology 1 demonstrates inter-LAN communication through one router. Since both networks are directly connected, the router installs connected routes automatically when interfaces are up.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Topology 2 demonstrates routing between remote LANs. Static routes tell each router where to send packets for networks that are not directly connected.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 successful ping confirms two-way reachability for ICMP at that time; it does not prove every application or protocol will work.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The first ping may take longer because ARP must discover the next-hop or destination MAC address.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In routed traffic, routers replace the Layer 2 Ethernet header on each hop, while end-to-end IPv4 source and destination addresses normally stay unchanged.</a:t>
            </a:r>
          </a:p>
          <a:p>
            <a:pPr>
              <a:spcAft>
                <a:spcPts val="10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Simulation Mode makes the forwarding sequence visible and helps connect routing-table decisions to observed packet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12.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7315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2962A0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241280" cy="2743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Ping uses ICMP Echo Request and Echo Reply to test IP reachability.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Correct IP addresses, subnet masks, gateways, and active interfaces are essential.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A single router can route between its directly connected LANs without static routes.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Two routers require appropriate routes to remote LANs and a valid return path.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Packet Tracer Simulation Mode shows how ARP, ICMP, and router forwarding work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57800"/>
            <a:ext cx="10424160" cy="658368"/>
          </a:xfrm>
          <a:prstGeom prst="roundRect">
            <a:avLst/>
          </a:prstGeom>
          <a:solidFill>
            <a:srgbClr val="F0F5FA"/>
          </a:solidFill>
          <a:ln>
            <a:solidFill>
              <a:srgbClr val="008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413248"/>
            <a:ext cx="9966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0878C"/>
                </a:solidFill>
                <a:latin typeface="Aptos"/>
              </a:defRPr>
            </a:pPr>
            <a:r>
              <a:t>Before submission: attach screenshots of successful pings and the Simulation event list from your own Packet Tracer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Appendix — Commands and Submission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029200" cy="365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62A0"/>
                </a:solidFill>
                <a:latin typeface="Aptos"/>
              </a:defRPr>
            </a:pPr>
            <a:r>
              <a:t>Useful verification commands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029200" cy="2011680"/>
          </a:xfrm>
          <a:prstGeom prst="roundRect">
            <a:avLst/>
          </a:prstGeom>
          <a:solidFill>
            <a:srgbClr val="F0F5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47000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42A4A"/>
                </a:solidFill>
                <a:latin typeface="Consolas"/>
              </a:defRPr>
            </a:pPr>
            <a:r>
              <a:t>show ip interface brief</a:t>
            </a:r>
          </a:p>
          <a:p>
            <a:pPr>
              <a:spcAft>
                <a:spcPts val="400"/>
              </a:spcAft>
              <a:defRPr sz="1400">
                <a:solidFill>
                  <a:srgbClr val="142A4A"/>
                </a:solidFill>
                <a:latin typeface="Consolas"/>
              </a:defRPr>
            </a:pPr>
            <a:r>
              <a:t>show ip route</a:t>
            </a:r>
          </a:p>
          <a:p>
            <a:pPr>
              <a:spcAft>
                <a:spcPts val="400"/>
              </a:spcAft>
              <a:defRPr sz="1400">
                <a:solidFill>
                  <a:srgbClr val="142A4A"/>
                </a:solidFill>
                <a:latin typeface="Consolas"/>
              </a:defRPr>
            </a:pPr>
            <a:r>
              <a:t>show running-config</a:t>
            </a:r>
          </a:p>
          <a:p>
            <a:pPr>
              <a:spcAft>
                <a:spcPts val="400"/>
              </a:spcAft>
              <a:defRPr sz="1400">
                <a:solidFill>
                  <a:srgbClr val="142A4A"/>
                </a:solidFill>
                <a:latin typeface="Consolas"/>
              </a:defRPr>
            </a:pPr>
            <a:r>
              <a:t>ping 192.168.3.100</a:t>
            </a:r>
          </a:p>
          <a:p>
            <a:pPr>
              <a:spcAft>
                <a:spcPts val="400"/>
              </a:spcAft>
              <a:defRPr sz="1400">
                <a:solidFill>
                  <a:srgbClr val="142A4A"/>
                </a:solidFill>
                <a:latin typeface="Consolas"/>
              </a:defRPr>
            </a:pPr>
            <a:r>
              <a:t>tracert 192.168.3.100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029200" cy="365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62A0"/>
                </a:solidFill>
                <a:latin typeface="Aptos"/>
              </a:defRPr>
            </a:pPr>
            <a:r>
              <a:t>Recommended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120640" cy="2926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 Full topology screenshot with device labels visible.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 PC IP Configuration for representative hosts.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 Router interface status and routing table.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 Successful ping output for local and remote hosts.</a:t>
            </a:r>
          </a:p>
          <a:p>
            <a:pPr>
              <a:spcAft>
                <a:spcPts val="1000"/>
              </a:spcAft>
              <a:defRPr sz="1500">
                <a:solidFill>
                  <a:srgbClr val="26303C"/>
                </a:solidFill>
                <a:latin typeface="Aptos"/>
              </a:defRPr>
            </a:pPr>
            <a:r>
              <a:t>•  Simulation Mode event list for one end-to-end 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424160" cy="5943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DC822D"/>
                </a:solidFill>
                <a:latin typeface="Aptos"/>
              </a:defRPr>
            </a:pPr>
            <a:r>
              <a:t>Addressing note: the slide tables transcribe the visible IP labels. Confirm the actual interface names and masks in your Packet Tracer file before submitting.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A"/>
                </a:solidFill>
                <a:latin typeface="Aptos"/>
              </a:defRPr>
            </a:pPr>
            <a:r>
              <a:t>Computer and Network Communications | Static Routing &amp; ICMP Ping                                  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1741</Words>
  <Application>Microsoft Office PowerPoint</Application>
  <PresentationFormat>Widescreen</PresentationFormat>
  <Paragraphs>246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Pens Pnes</cp:lastModifiedBy>
  <cp:revision>1</cp:revision>
  <dcterms:created xsi:type="dcterms:W3CDTF">2013-01-27T09:14:16Z</dcterms:created>
  <dcterms:modified xsi:type="dcterms:W3CDTF">2026-10-23T06:01:48Z</dcterms:modified>
  <cp:category/>
</cp:coreProperties>
</file>